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874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888888"/>
                </a:solidFill>
                <a:latin typeface="Microsoft YaHei"/>
              </a:defRPr>
            </a:pPr>
            <a:r>
              <a:t>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37360"/>
            <a:ext cx="1645920" cy="77724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choi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47088"/>
            <a:ext cx="1280160" cy="7936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29260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2B45"/>
                </a:solidFill>
                <a:latin typeface="Microsoft YaHei"/>
              </a:defRPr>
            </a:pPr>
            <a:r>
              <a:t>百雀羚工厂调拨及电商仓配送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204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5EA0"/>
                </a:solidFill>
                <a:latin typeface="Microsoft YaHei"/>
              </a:defRPr>
            </a:pPr>
            <a:r>
              <a:t>仓储物流运输方案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4343400"/>
            <a:ext cx="2286000" cy="254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整车运输  |  厂间调拨  |  电商仓直送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Microsoft YaHei"/>
              </a:defRPr>
            </a:pPr>
            <a:r>
              <a:t>2026年7月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06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5EA0"/>
                </a:solidFill>
                <a:latin typeface="Microsoft YaHei"/>
              </a:defRPr>
            </a:pPr>
            <a:r>
              <a:t>中通快递股份有限公司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320040" cy="5080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A0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百雀羚工厂调拨纯运输项目 · 整车运输服务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1153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120640" cy="2194560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B5EA0"/>
                </a:solidFill>
                <a:latin typeface="Microsoft YaHei"/>
              </a:defRPr>
            </a:pPr>
            <a:r>
              <a:t>项目背景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百雀羚是国内知名护肤品牌，产品覆盖全线护肤、彩妆及个护品类。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本项目为其工厂间调拨及电商仓配送提供整车运输服务，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涵盖三大生产基地与电商大仓之间的整车物流需求。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5120640" cy="2468880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B5EA0"/>
                </a:solidFill>
                <a:latin typeface="Microsoft YaHei"/>
              </a:defRPr>
            </a:pPr>
            <a:r>
              <a:t>运输范围</a:t>
            </a:r>
          </a:p>
          <a:p>
            <a:pPr algn="l">
              <a:spcBef>
                <a:spcPts val="1000"/>
              </a:spcBef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业务一：厂间调拨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三分厂 / 四分厂 / 菲尼克斯工厂之间整车调拨，承运商负责装卸</a:t>
            </a:r>
          </a:p>
          <a:p>
            <a:pPr algn="l">
              <a:spcBef>
                <a:spcPts val="1000"/>
              </a:spcBef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业务二：电商仓直送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三个工厂发往电商大仓的整车业务，电商仓端承运商不需要装卸服务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B45"/>
                </a:solidFill>
                <a:latin typeface="Microsoft YaHei"/>
              </a:defRPr>
            </a:pPr>
            <a:r>
              <a:t>项目关键数据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24688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B5EA0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生产基地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三分厂 · 四分厂 · 菲尼克斯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920240"/>
            <a:ext cx="24688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B5EA0"/>
                </a:solidFill>
                <a:latin typeface="Microsoft YaHei"/>
              </a:defRPr>
            </a:pPr>
            <a:r>
              <a:t>2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业务类型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厂间调拨 + 电商仓配送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29000"/>
            <a:ext cx="24688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B5EA0"/>
                </a:solidFill>
                <a:latin typeface="Microsoft YaHei"/>
              </a:defRPr>
            </a:pPr>
            <a:r>
              <a:t>7×24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运营保障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全天候客服响应机制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3429000"/>
            <a:ext cx="24688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B5EA0"/>
                </a:solidFill>
                <a:latin typeface="Microsoft YaHei"/>
              </a:defRPr>
            </a:pPr>
            <a:r>
              <a:t>98%+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准时交付率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全流程跟踪与品质保障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320040" cy="5080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A0"/>
                </a:solidFill>
                <a:latin typeface="Microsoft YaHei"/>
              </a:defRPr>
            </a:pPr>
            <a:r>
              <a:t>运输网络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三大生产基地调拨与电商仓配送路线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1153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377440" cy="6858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三分厂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2377440" cy="6858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四分厂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3360"/>
            <a:ext cx="2377440" cy="6858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菲尼克斯工厂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331720"/>
            <a:ext cx="2560320" cy="1005840"/>
          </a:xfrm>
          <a:prstGeom prst="round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电商大仓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1897380"/>
            <a:ext cx="2834640" cy="0"/>
          </a:xfrm>
          <a:prstGeom prst="line">
            <a:avLst/>
          </a:prstGeom>
          <a:ln w="1905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08960" y="3131820"/>
            <a:ext cx="2834640" cy="0"/>
          </a:xfrm>
          <a:prstGeom prst="line">
            <a:avLst/>
          </a:prstGeom>
          <a:ln w="1905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0" y="4366260"/>
            <a:ext cx="2834640" cy="0"/>
          </a:xfrm>
          <a:prstGeom prst="line">
            <a:avLst/>
          </a:prstGeom>
          <a:ln w="1905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1897380"/>
            <a:ext cx="2651760" cy="937260"/>
          </a:xfrm>
          <a:prstGeom prst="line">
            <a:avLst/>
          </a:prstGeom>
          <a:ln w="19050">
            <a:solidFill>
              <a:srgbClr val="1B5E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943600" y="2834640"/>
            <a:ext cx="2651760" cy="297180"/>
          </a:xfrm>
          <a:prstGeom prst="line">
            <a:avLst/>
          </a:prstGeom>
          <a:ln w="19050">
            <a:solidFill>
              <a:srgbClr val="1B5E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943600" y="2834640"/>
            <a:ext cx="2651760" cy="1531620"/>
          </a:xfrm>
          <a:prstGeom prst="line">
            <a:avLst/>
          </a:prstGeom>
          <a:ln w="19050">
            <a:solidFill>
              <a:srgbClr val="1B5E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63240" y="1897380"/>
            <a:ext cx="0" cy="1234440"/>
          </a:xfrm>
          <a:prstGeom prst="line">
            <a:avLst/>
          </a:prstGeom>
          <a:ln w="1905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63240" y="1897380"/>
            <a:ext cx="0" cy="1234440"/>
          </a:xfrm>
          <a:prstGeom prst="line">
            <a:avLst/>
          </a:prstGeom>
          <a:ln w="1905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63240" y="3131820"/>
            <a:ext cx="0" cy="1234440"/>
          </a:xfrm>
          <a:prstGeom prst="line">
            <a:avLst/>
          </a:prstGeom>
          <a:ln w="1905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063240" y="3131820"/>
            <a:ext cx="0" cy="1234440"/>
          </a:xfrm>
          <a:prstGeom prst="line">
            <a:avLst/>
          </a:prstGeom>
          <a:ln w="1905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840480" y="1188720"/>
            <a:ext cx="2743200" cy="384048"/>
          </a:xfrm>
          <a:prstGeom prst="roundRect">
            <a:avLst/>
          </a:prstGeom>
          <a:solidFill>
            <a:srgbClr val="E8F6EF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E8B57"/>
                </a:solidFill>
                <a:latin typeface="Microsoft YaHei"/>
              </a:defRPr>
            </a:pPr>
            <a:r>
              <a:t>厂间调拨（承运商装卸）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31920"/>
            <a:ext cx="2743200" cy="384048"/>
          </a:xfrm>
          <a:prstGeom prst="roundRect">
            <a:avLst/>
          </a:prstGeom>
          <a:solidFill>
            <a:srgbClr val="E8F0FA"/>
          </a:solidFill>
          <a:ln w="9525">
            <a:solidFill>
              <a:srgbClr val="1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5EA0"/>
                </a:solidFill>
                <a:latin typeface="Microsoft YaHei"/>
              </a:defRPr>
            </a:pPr>
            <a:r>
              <a:t>电商仓直送（无需装卸）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0911535" cy="1371600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D2B45"/>
                </a:solidFill>
                <a:latin typeface="Microsoft YaHei"/>
              </a:defRPr>
            </a:pPr>
            <a:r>
              <a:t>运输说明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厂间调拨：三分厂 / 四分厂 / 菲尼克斯工厂之间调拨，承运商负责装卸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电商仓配送：三厂发往电商大仓，承运商无需在电商仓端提供装卸服务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车辆类型：整车运输，根据货量灵活调配车型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320040" cy="5080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A0"/>
                </a:solidFill>
                <a:latin typeface="Microsoft YaHei"/>
              </a:defRPr>
            </a:pPr>
            <a:r>
              <a:t>业务流程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从货量下达到目的地交接的全流程管理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1153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2331720" cy="777240"/>
          </a:xfrm>
          <a:prstGeom prst="round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工厂提前一天</a:t>
            </a:r>
            <a:br/>
            <a:r>
              <a:t>下达货量任务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99232" y="1851660"/>
            <a:ext cx="356616" cy="0"/>
          </a:xfrm>
          <a:prstGeom prst="line">
            <a:avLst/>
          </a:prstGeom>
          <a:ln w="19050">
            <a:solidFill>
              <a:srgbClr val="1B5E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1463040"/>
            <a:ext cx="2331720" cy="777240"/>
          </a:xfrm>
          <a:prstGeom prst="round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中通调度中心</a:t>
            </a:r>
            <a:br/>
            <a:r>
              <a:t>接收并确认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42432" y="1851660"/>
            <a:ext cx="356616" cy="0"/>
          </a:xfrm>
          <a:prstGeom prst="line">
            <a:avLst/>
          </a:prstGeom>
          <a:ln w="19050">
            <a:solidFill>
              <a:srgbClr val="1B5E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26480" y="1463040"/>
            <a:ext cx="2331720" cy="777240"/>
          </a:xfrm>
          <a:prstGeom prst="round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车辆调配</a:t>
            </a:r>
            <a:br/>
            <a:r>
              <a:t>司机指派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85632" y="1851660"/>
            <a:ext cx="356616" cy="0"/>
          </a:xfrm>
          <a:prstGeom prst="line">
            <a:avLst/>
          </a:prstGeom>
          <a:ln w="19050">
            <a:solidFill>
              <a:srgbClr val="1B5E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69680" y="1463040"/>
            <a:ext cx="2331720" cy="77724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车辆到达</a:t>
            </a:r>
            <a:br/>
            <a:r>
              <a:t>工厂装货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35540" y="2240280"/>
            <a:ext cx="0" cy="502920"/>
          </a:xfrm>
          <a:prstGeom prst="line">
            <a:avLst/>
          </a:prstGeom>
          <a:ln w="19050">
            <a:solidFill>
              <a:srgbClr val="1B5E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2880360"/>
            <a:ext cx="2331720" cy="77724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回单签收</a:t>
            </a:r>
            <a:br/>
            <a:r>
              <a:t>流程闭环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999232" y="3268980"/>
            <a:ext cx="356616" cy="0"/>
          </a:xfrm>
          <a:prstGeom prst="line">
            <a:avLst/>
          </a:prstGeom>
          <a:ln w="19050">
            <a:solidFill>
              <a:srgbClr val="1B5E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83280" y="2880360"/>
            <a:ext cx="2331720" cy="7772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到达目的地</a:t>
            </a:r>
            <a:br/>
            <a:r>
              <a:t>清点交接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742432" y="3268980"/>
            <a:ext cx="356616" cy="0"/>
          </a:xfrm>
          <a:prstGeom prst="line">
            <a:avLst/>
          </a:prstGeom>
          <a:ln w="19050">
            <a:solidFill>
              <a:srgbClr val="1B5E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26480" y="2880360"/>
            <a:ext cx="2331720" cy="777240"/>
          </a:xfrm>
          <a:prstGeom prst="round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运输途中</a:t>
            </a:r>
            <a:br/>
            <a:r>
              <a:t>GPS实时监控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485632" y="3268980"/>
            <a:ext cx="356616" cy="0"/>
          </a:xfrm>
          <a:prstGeom prst="line">
            <a:avLst/>
          </a:prstGeom>
          <a:ln w="19050">
            <a:solidFill>
              <a:srgbClr val="1B5E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69680" y="2880360"/>
            <a:ext cx="2331720" cy="77724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货物装车</a:t>
            </a:r>
            <a:br/>
            <a:r>
              <a:t>缠绕膜固定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2B45"/>
                </a:solidFill>
                <a:latin typeface="Microsoft YaHei"/>
              </a:defRPr>
            </a:pPr>
            <a:r>
              <a:t>时间节点：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14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A0"/>
                </a:solidFill>
                <a:latin typeface="Microsoft YaHei"/>
              </a:defRPr>
            </a:pPr>
            <a:r>
              <a:t>T-1天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708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工厂下达任务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114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A0"/>
                </a:solidFill>
                <a:latin typeface="Microsoft YaHei"/>
              </a:defRPr>
            </a:pPr>
            <a:r>
              <a:t>T-1天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3708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调度确认派车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114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A0"/>
                </a:solidFill>
                <a:latin typeface="Microsoft YaHei"/>
              </a:defRPr>
            </a:pPr>
            <a:r>
              <a:t>T日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3708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到厂装货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114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A0"/>
                </a:solidFill>
                <a:latin typeface="Microsoft YaHei"/>
              </a:defRPr>
            </a:pPr>
            <a:r>
              <a:t>T日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708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运输配送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114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A0"/>
                </a:solidFill>
                <a:latin typeface="Microsoft YaHei"/>
              </a:defRPr>
            </a:pPr>
            <a:r>
              <a:t>T日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43708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到达交接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4096512"/>
            <a:ext cx="86868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846320"/>
            <a:ext cx="10911535" cy="1554480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D2B45"/>
                </a:solidFill>
                <a:latin typeface="Microsoft YaHei"/>
              </a:defRPr>
            </a:pPr>
            <a:r>
              <a:t>关键控制点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① 工厂提前一天下达货量任务，中通调度中心15分钟内确认并反馈车辆安排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② 装货时司机核对货物数量、形态（整托/半托/散箱）并拍照留档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③ 运输全程GPS监控，异常停留/偏航自动预警，客服实时跟进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④ 到达目的地后双方清点交接，签收回单拍照上传，当日完成闭环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320040" cy="5080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A0"/>
                </a:solidFill>
                <a:latin typeface="Microsoft YaHei"/>
              </a:defRPr>
            </a:pPr>
            <a:r>
              <a:t>货物形态与装卸规范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整托 / 半托 / 散箱 分类管理与操作标准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1153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383280" cy="54864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整托（大部分）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93392"/>
            <a:ext cx="3383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工厂出厂已缠绕好缠绕膜</a:t>
            </a:r>
          </a:p>
          <a:p>
            <a:pPr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整托装卸，叉车作业</a:t>
            </a:r>
          </a:p>
          <a:p>
            <a:pPr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厂间调拨 &amp; 电商仓均适用</a:t>
            </a:r>
          </a:p>
          <a:p>
            <a:pPr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装卸效率最高，破损率最低</a:t>
            </a:r>
          </a:p>
          <a:p>
            <a:pPr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占比：约 70% ~ 80%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38328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半托（部分）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93392"/>
            <a:ext cx="3383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工厂缠绕好膜后装车</a:t>
            </a:r>
          </a:p>
          <a:p>
            <a:pPr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需注意堆叠稳定性</a:t>
            </a:r>
          </a:p>
          <a:p>
            <a:pPr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厂间调拨 &amp; 电商仓均适用</a:t>
            </a:r>
          </a:p>
          <a:p>
            <a:pPr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装卸时需加固防倾斜</a:t>
            </a:r>
          </a:p>
          <a:p>
            <a:pPr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占比：约 15% ~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散箱（极少）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93392"/>
            <a:ext cx="3383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仅出现在送电商仓业务中</a:t>
            </a:r>
          </a:p>
          <a:p>
            <a:pPr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需人工逐箱搬运装卸</a:t>
            </a:r>
          </a:p>
          <a:p>
            <a:pPr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需额外防护与固定措施</a:t>
            </a:r>
          </a:p>
          <a:p>
            <a:pPr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重点防止破损与丢失</a:t>
            </a:r>
          </a:p>
          <a:p>
            <a:pPr>
              <a:spcBef>
                <a:spcPts val="700"/>
              </a:spcBef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占比：约 5% 以内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169164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装卸服务说明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2D2D2D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厂间调拨：承运商负责装卸，配备专业装卸团队与叉车设备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电商仓直送：电商仓端承运商不需要装卸服务，由电商仓负责卸货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所有装卸过程拍照留档，异常破损即时上报并启动理赔流程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320040" cy="5080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A0"/>
                </a:solidFill>
                <a:latin typeface="Microsoft YaHei"/>
              </a:defRPr>
            </a:pPr>
            <a:r>
              <a:t>车辆管控方案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自有车辆与长期签约车辆的统一管理体系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1153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72887" cy="4846320"/>
          </a:xfrm>
          <a:prstGeom prst="roundRect">
            <a:avLst/>
          </a:prstGeom>
          <a:solidFill>
            <a:srgbClr val="E8F0FA"/>
          </a:solidFill>
          <a:ln w="9525">
            <a:solidFill>
              <a:srgbClr val="1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1B5EA0"/>
                </a:solidFill>
                <a:latin typeface="Microsoft YaHei"/>
              </a:defRPr>
            </a:pPr>
            <a:r>
              <a:t>自有车辆管控</a:t>
            </a:r>
          </a:p>
          <a:p>
            <a:pPr algn="l">
              <a:spcBef>
                <a:spcPts val="1200"/>
              </a:spcBef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车辆档案管理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一车一档：行驶证、营运证、保险、年检记录</a:t>
            </a:r>
          </a:p>
          <a:p>
            <a:pPr algn="l">
              <a:spcBef>
                <a:spcPts val="1200"/>
              </a:spcBef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智能调度系统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GPS定位 + 车载OBD，实时监控位置与车况</a:t>
            </a:r>
          </a:p>
          <a:p>
            <a:pPr algn="l">
              <a:spcBef>
                <a:spcPts val="1200"/>
              </a:spcBef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定期维保计划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按里程/时间双维度制定保养计划，确保车况良好</a:t>
            </a:r>
          </a:p>
          <a:p>
            <a:pPr algn="l">
              <a:spcBef>
                <a:spcPts val="1200"/>
              </a:spcBef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安全检查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出车前 / 行车中 / 收车后三阶段安全检查</a:t>
            </a:r>
          </a:p>
          <a:p>
            <a:pPr algn="l">
              <a:spcBef>
                <a:spcPts val="1200"/>
              </a:spcBef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备用车辆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配备应急备用车辆，保障运力不中断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371600"/>
            <a:ext cx="5272887" cy="4846320"/>
          </a:xfrm>
          <a:prstGeom prst="roundRect">
            <a:avLst/>
          </a:prstGeom>
          <a:solidFill>
            <a:srgbClr val="E8F6EF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2E8B57"/>
                </a:solidFill>
                <a:latin typeface="Microsoft YaHei"/>
              </a:defRPr>
            </a:pPr>
            <a:r>
              <a:t>长期签约车辆管控</a:t>
            </a:r>
          </a:p>
          <a:p>
            <a:pPr algn="l">
              <a:spcBef>
                <a:spcPts val="1200"/>
              </a:spcBef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准入审核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资质审查：营业执照、道路运输许可证、车辆保险</a:t>
            </a:r>
          </a:p>
          <a:p>
            <a:pPr algn="l">
              <a:spcBef>
                <a:spcPts val="1200"/>
              </a:spcBef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合同约束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签订长期合作协议，明确服务标准与违约责任</a:t>
            </a:r>
          </a:p>
          <a:p>
            <a:pPr algn="l">
              <a:spcBef>
                <a:spcPts val="1200"/>
              </a:spcBef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统一标准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与自有车辆执行相同的装载、运输、交付标准</a:t>
            </a:r>
          </a:p>
          <a:p>
            <a:pPr algn="l">
              <a:spcBef>
                <a:spcPts val="1200"/>
              </a:spcBef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绩效考核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按月评估准时率、破损率、投诉率，末位淘汰</a:t>
            </a:r>
          </a:p>
          <a:p>
            <a:pPr algn="l">
              <a:spcBef>
                <a:spcPts val="1200"/>
              </a:spcBef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运力储备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保持20%以上的运力冗余，应对旺季和突发需求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320040" cy="5080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A0"/>
                </a:solidFill>
                <a:latin typeface="Microsoft YaHei"/>
              </a:defRPr>
            </a:pPr>
            <a:r>
              <a:t>司机考核体系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多维度 KPI 考核与激励约束机制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1153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1371600"/>
                <a:gridCol w="1188720"/>
                <a:gridCol w="3566160"/>
              </a:tblGrid>
              <a:tr h="44577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考核维度</a:t>
                      </a:r>
                    </a:p>
                  </a:txBody>
                  <a:tcPr anchor="ctr">
                    <a:solidFill>
                      <a:srgbClr val="1B5E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考核指标</a:t>
                      </a:r>
                    </a:p>
                  </a:txBody>
                  <a:tcPr anchor="ctr">
                    <a:solidFill>
                      <a:srgbClr val="1B5E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目标值</a:t>
                      </a:r>
                    </a:p>
                  </a:txBody>
                  <a:tcPr anchor="ctr">
                    <a:solidFill>
                      <a:srgbClr val="1B5E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权重</a:t>
                      </a:r>
                    </a:p>
                  </a:txBody>
                  <a:tcPr anchor="ctr">
                    <a:solidFill>
                      <a:srgbClr val="1B5E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考核方式</a:t>
                      </a:r>
                    </a:p>
                  </a:txBody>
                  <a:tcPr anchor="ctr">
                    <a:solidFill>
                      <a:srgbClr val="1B5EA0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时效管理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准时到达率 / 准时交付率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≥98%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GPS轨迹 + 签收时间比对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安全管理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安全事故次数 / 违章次数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0次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事故记录 + 交通违章查询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货物完好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货物破损率 / 丢失率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≤0.1%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交接清点记录 + 客户反馈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服务规范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着装 / 话术 / 操作流程合规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现场检查 + 客户评价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装载规范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缠绕膜固定 / 堆叠标准执行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装车照片审核 + 抽查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客户满意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客户投诉次数 / 好评率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0投诉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客户回访 + 投诉记录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油耗管理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百公里油耗 / 路线执行率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OBD数据 + GPS轨迹分析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212080"/>
            <a:ext cx="5272887" cy="1097280"/>
          </a:xfrm>
          <a:prstGeom prst="roundRect">
            <a:avLst/>
          </a:prstGeom>
          <a:solidFill>
            <a:srgbClr val="E8F6EF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E8B57"/>
                </a:solidFill>
                <a:latin typeface="Microsoft YaHei"/>
              </a:defRPr>
            </a:pPr>
            <a:r>
              <a:t>激励机制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月度安全之星 / 服务之星评选，给予现金奖励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年度优秀司机额外奖金 + 优先续约资格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5212080"/>
            <a:ext cx="5272887" cy="1097280"/>
          </a:xfrm>
          <a:prstGeom prst="roundRect">
            <a:avLst/>
          </a:prstGeom>
          <a:solidFill>
            <a:srgbClr val="FDEDEC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约束机制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连续两月考核不达标，暂停派车 / 终止合作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重大安全事故一票否决，立即解约并追责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320040" cy="5080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A0"/>
                </a:solidFill>
                <a:latin typeface="Microsoft YaHei"/>
              </a:defRPr>
            </a:pPr>
            <a:r>
              <a:t>异常处理机制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分层分级响应，确保问题快速闭环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1153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747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一级异常（轻微）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938528"/>
            <a:ext cx="237744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7AE60"/>
                </a:solidFill>
                <a:latin typeface="Microsoft YaHei"/>
              </a:defRPr>
            </a:pPr>
            <a:r>
              <a:t>处理人：司机自行处理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4747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轻微交通拥堵（&lt;30min）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装卸等待时间略长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天气影响（小雨/轻雾）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司机即时上报群内，自行调整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预计延误&lt;1小时，无需升级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4747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二级异常（中等）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938528"/>
            <a:ext cx="237744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67E22"/>
                </a:solidFill>
                <a:latin typeface="Microsoft YaHei"/>
              </a:defRPr>
            </a:pPr>
            <a:r>
              <a:t>处理人：调度 / 客服介入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77440"/>
            <a:ext cx="34747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车辆故障（可现场修复）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严重拥堵（&gt;30min）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工厂装货延迟&gt;1小时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恶劣天气（暴雨/大雾）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调度协调备用车辆/调整路线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客服通知客户预计延误时间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三级异常（重大）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938528"/>
            <a:ext cx="237744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0392B"/>
                </a:solidFill>
                <a:latin typeface="Microsoft YaHei"/>
              </a:defRPr>
            </a:pPr>
            <a:r>
              <a:t>处理人：管理层介入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377440"/>
            <a:ext cx="34747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交通事故（人伤/车损）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货物大面积破损/丢失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车辆严重故障无法行驶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自然灾害/道路封闭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启动应急预案，调配备用车辆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管理层30min内到场/远程指挥</a:t>
            </a:r>
          </a:p>
          <a:p>
            <a:pPr>
              <a:spcBef>
                <a:spcPts val="400"/>
              </a:spcBef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2h内向客户提交书面报告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29200"/>
            <a:ext cx="10911535" cy="1371600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D2B45"/>
                </a:solidFill>
                <a:latin typeface="Microsoft YaHei"/>
              </a:defRPr>
            </a:pPr>
            <a:r>
              <a:t>响应时效承诺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一级异常：司机即时响应，群内报备          二级异常：调度10分钟内介入，30分钟内给出方案          三级异常：管理层15分钟内介入，1小时内到场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所有异常处理完成后24小时内提交报告，48小时内完成闭环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320040" cy="5080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A0"/>
                </a:solidFill>
                <a:latin typeface="Microsoft YaHei"/>
              </a:defRPr>
            </a:pPr>
            <a:r>
              <a:t>客服保障方案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无TMS系统下的线下手工运营与报表管理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1153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67E22"/>
                </a:solidFill>
                <a:latin typeface="Microsoft YaHei"/>
              </a:defRPr>
            </a:pPr>
            <a:r>
              <a:t>运营现状：本项目无TMS系统支持，均为线下手工操作，依靠报表管理和微信群实时沟通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A0"/>
                </a:solidFill>
                <a:latin typeface="Microsoft YaHei"/>
              </a:defRPr>
            </a:pPr>
            <a:r>
              <a:t>沟通保障机制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62072"/>
            <a:ext cx="329184" cy="329184"/>
          </a:xfrm>
          <a:prstGeom prst="ellipse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4815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专属微信群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815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百雀羚方 + 中通调度 + 司机 + 客服，四方同群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40"/>
            <a:ext cx="4815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实时报备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4815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装货 → 发车 → 在途 → 到达 → 交接，每步群内报备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82312"/>
            <a:ext cx="329184" cy="329184"/>
          </a:xfrm>
          <a:prstGeom prst="ellipse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4815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拍照留档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83480"/>
            <a:ext cx="4815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装货照片、运输照片、交接照片实时群内上传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742432"/>
            <a:ext cx="329184" cy="329184"/>
          </a:xfrm>
          <a:prstGeom prst="ellipse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69280"/>
            <a:ext cx="4815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B45"/>
                </a:solidFill>
                <a:latin typeface="Microsoft YaHei"/>
              </a:defRPr>
            </a:pPr>
            <a:r>
              <a:t>专人对接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943600"/>
            <a:ext cx="4815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配备专属客服，7×24小时在线响应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28600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B57"/>
                </a:solidFill>
                <a:latin typeface="Microsoft YaHei"/>
              </a:defRPr>
            </a:pPr>
            <a:r>
              <a:t>报表管理体系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78727" y="2788920"/>
          <a:ext cx="527288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31520"/>
                <a:gridCol w="3352647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报表名称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频率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运输日报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每日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车次/货量/准时率/异常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周度汇总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每周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运输量/KPI/趋势分析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月度对账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每月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明细/费用/破损赔付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异常记录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实时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事件/处理/结果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司机考核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每月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KPI得分/排名/奖惩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6278727" y="5029200"/>
            <a:ext cx="5272887" cy="1097280"/>
          </a:xfrm>
          <a:prstGeom prst="roundRect">
            <a:avLst/>
          </a:prstGeom>
          <a:solidFill>
            <a:srgbClr val="E8F6EF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2E8B57"/>
                </a:solidFill>
                <a:latin typeface="Microsoft YaHei"/>
              </a:defRPr>
            </a:pPr>
            <a:r>
              <a:t>保障承诺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所有报表数据真实、准确、可追溯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支持随时提供原始数据与照片记录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服务保障承诺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1234440"/>
            <a:ext cx="1645920" cy="254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047" y="1645920"/>
            <a:ext cx="3200400" cy="155448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时效保障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准时率 ≥ 98%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延误提前通知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应急备用车辆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5647" y="1645920"/>
            <a:ext cx="3200400" cy="155448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安全保障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全程GPS监控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货物破损率 ≤ 0.1%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全额货物保险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3247" y="1645920"/>
            <a:ext cx="3200400" cy="155448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专业团队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专属客服 7×24h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专业司机培训上岗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标准化操作流程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047" y="3566160"/>
            <a:ext cx="3200400" cy="155448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透明管理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每步拍照留档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日报/周报/月报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数据全程可追溯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47" y="3566160"/>
            <a:ext cx="3200400" cy="155448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快速响应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异常10min响应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1h内解决方案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24h完成闭环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3247" y="3566160"/>
            <a:ext cx="3200400" cy="155448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长期合作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持续优化改进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定期回顾会议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A8C8E8"/>
                </a:solidFill>
                <a:latin typeface="Microsoft YaHei"/>
              </a:defRPr>
            </a:pPr>
            <a:r>
              <a:t>灵活调整方案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期待与百雀羚携手共创高效物流体系</a:t>
            </a:r>
          </a:p>
        </p:txBody>
      </p:sp>
      <p:pic>
        <p:nvPicPr>
          <p:cNvPr id="12" name="Picture 11" descr="z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598932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0" y="6062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C8E8"/>
                </a:solidFill>
                <a:latin typeface="Microsoft YaHei"/>
              </a:defRPr>
            </a:pPr>
            <a:r>
              <a:t>中通快递股份有限公司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